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 Italics" charset="1" panose="020F05020202040A0204"/>
      <p:regular r:id="rId16"/>
    </p:embeddedFont>
    <p:embeddedFont>
      <p:font typeface="Calibri (MS)" charset="1" panose="020F0502020204030204"/>
      <p:regular r:id="rId17"/>
    </p:embeddedFont>
    <p:embeddedFont>
      <p:font typeface="Georgia Bold" charset="1" panose="02040802050405020203"/>
      <p:regular r:id="rId21"/>
    </p:embeddedFont>
    <p:embeddedFont>
      <p:font typeface="Georgia" charset="1" panose="02040502050405020303"/>
      <p:regular r:id="rId22"/>
    </p:embeddedFont>
    <p:embeddedFont>
      <p:font typeface="Georgia Bold Italics" charset="1" panose="0204080205040509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5.xml" Type="http://schemas.openxmlformats.org/officeDocument/2006/relationships/notes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14.png" Type="http://schemas.openxmlformats.org/officeDocument/2006/relationships/image"/><Relationship Id="rId6" Target="../media/image8.png" Type="http://schemas.openxmlformats.org/officeDocument/2006/relationships/image"/><Relationship Id="rId7" Target="../media/image15.png" Type="http://schemas.openxmlformats.org/officeDocument/2006/relationships/image"/><Relationship Id="rId8" Target="../media/image7.pn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49440" cy="10287000"/>
            <a:chOff x="0" y="0"/>
            <a:chExt cx="92659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659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17920" y="0"/>
            <a:ext cx="731520" cy="10287000"/>
            <a:chOff x="0" y="0"/>
            <a:chExt cx="9753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D1457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1280160"/>
            <a:ext cx="3657600" cy="3657600"/>
            <a:chOff x="0" y="0"/>
            <a:chExt cx="4876800" cy="4876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0" y="5303520"/>
            <a:ext cx="6217920" cy="2194560"/>
            <a:chOff x="0" y="0"/>
            <a:chExt cx="829056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90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29056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 spc="1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BREAST CANCER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 spc="1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AWARENESS CAMP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0160" y="8046720"/>
            <a:ext cx="4389120" cy="1554480"/>
            <a:chOff x="0" y="0"/>
            <a:chExt cx="5852160" cy="207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852160">
                  <a:moveTo>
                    <a:pt x="0" y="1036320"/>
                  </a:moveTo>
                  <a:cubicBezTo>
                    <a:pt x="0" y="463931"/>
                    <a:pt x="1310005" y="0"/>
                    <a:pt x="2926080" y="0"/>
                  </a:cubicBezTo>
                  <a:cubicBezTo>
                    <a:pt x="4542155" y="0"/>
                    <a:pt x="5852160" y="463931"/>
                    <a:pt x="5852160" y="1036320"/>
                  </a:cubicBezTo>
                  <a:cubicBezTo>
                    <a:pt x="5852160" y="1608709"/>
                    <a:pt x="4542155" y="2072640"/>
                    <a:pt x="2926080" y="2072640"/>
                  </a:cubicBezTo>
                  <a:cubicBezTo>
                    <a:pt x="1310005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8083296"/>
            <a:ext cx="4389120" cy="1463040"/>
            <a:chOff x="0" y="0"/>
            <a:chExt cx="5852160" cy="195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85216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218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IMPACT PROJECT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98080" y="914400"/>
            <a:ext cx="10424160" cy="1280160"/>
            <a:chOff x="0" y="0"/>
            <a:chExt cx="13898880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3898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F8BBD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Social Impact Project 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98080" y="2011680"/>
            <a:ext cx="10424160" cy="4984775"/>
            <a:chOff x="0" y="0"/>
            <a:chExt cx="13898880" cy="66463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98880" cy="6646366"/>
            </a:xfrm>
            <a:custGeom>
              <a:avLst/>
              <a:gdLst/>
              <a:ahLst/>
              <a:cxnLst/>
              <a:rect r="r" b="b" t="t" l="l"/>
              <a:pathLst>
                <a:path h="6646366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646366"/>
                  </a:lnTo>
                  <a:lnTo>
                    <a:pt x="0" y="66463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28" r="0" b="2623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71450"/>
              <a:ext cx="13898880" cy="6817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19"/>
                </a:lnSpc>
              </a:pPr>
              <a:r>
                <a:rPr lang="en-US" sz="7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Breast Cancer</a:t>
              </a:r>
            </a:p>
            <a:p>
              <a:pPr algn="l">
                <a:lnSpc>
                  <a:spcPts val="9119"/>
                </a:lnSpc>
              </a:pPr>
              <a:r>
                <a:rPr lang="en-US" sz="7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Awareness Program - A Case study Approach</a:t>
              </a:r>
            </a:p>
            <a:p>
              <a:pPr algn="l">
                <a:lnSpc>
                  <a:spcPts val="9119"/>
                </a:lnSpc>
              </a:pPr>
              <a:r>
                <a:rPr lang="en-US" sz="7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98080" y="5596128"/>
            <a:ext cx="10424160" cy="73152"/>
            <a:chOff x="0" y="0"/>
            <a:chExt cx="13898880" cy="975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898880" cy="97536"/>
            </a:xfrm>
            <a:custGeom>
              <a:avLst/>
              <a:gdLst/>
              <a:ahLst/>
              <a:cxnLst/>
              <a:rect r="r" b="b" t="t" l="l"/>
              <a:pathLst>
                <a:path h="97536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98080" y="5632704"/>
            <a:ext cx="10424160" cy="914400"/>
            <a:chOff x="0" y="0"/>
            <a:chExt cx="1389888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898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F8BB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specific reference to</a:t>
              </a:r>
              <a:r>
                <a:rPr lang="en-US" sz="3200">
                  <a:solidFill>
                    <a:srgbClr val="F8BB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Aristo Speciality Hospital, Madurai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51776" y="7616952"/>
            <a:ext cx="10424160" cy="1207008"/>
            <a:chOff x="0" y="0"/>
            <a:chExt cx="13898880" cy="160934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195072" y="0"/>
              <a:ext cx="4340352" cy="1511808"/>
              <a:chOff x="0" y="0"/>
              <a:chExt cx="4340352" cy="151180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340352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4340352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194048" y="0"/>
                    </a:lnTo>
                    <a:cubicBezTo>
                      <a:pt x="4274820" y="0"/>
                      <a:pt x="4340352" y="65532"/>
                      <a:pt x="4340352" y="146304"/>
                    </a:cubicBezTo>
                    <a:lnTo>
                      <a:pt x="4340352" y="1365504"/>
                    </a:lnTo>
                    <a:cubicBezTo>
                      <a:pt x="4340352" y="1446276"/>
                      <a:pt x="4274820" y="1511808"/>
                      <a:pt x="4194048" y="1511808"/>
                    </a:cubicBezTo>
                    <a:lnTo>
                      <a:pt x="146304" y="1511808"/>
                    </a:lnTo>
                    <a:cubicBezTo>
                      <a:pt x="65532" y="1511808"/>
                      <a:pt x="0" y="1446276"/>
                      <a:pt x="0" y="1365504"/>
                    </a:cubicBezTo>
                    <a:close/>
                  </a:path>
                </a:pathLst>
              </a:custGeom>
              <a:solidFill>
                <a:srgbClr val="AD1457">
                  <a:alpha val="48627"/>
                </a:srgbClr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97536"/>
              <a:ext cx="4340352" cy="1511808"/>
              <a:chOff x="0" y="0"/>
              <a:chExt cx="4340352" cy="151180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340352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4340352">
                    <a:moveTo>
                      <a:pt x="0" y="0"/>
                    </a:moveTo>
                    <a:lnTo>
                      <a:pt x="4340352" y="0"/>
                    </a:lnTo>
                    <a:lnTo>
                      <a:pt x="4340352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940" r="0" b="-594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340352" cy="15499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 study about how this program to be Promoted 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876800" y="0"/>
              <a:ext cx="4340352" cy="1511808"/>
              <a:chOff x="0" y="0"/>
              <a:chExt cx="4340352" cy="151180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340352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4340352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194048" y="0"/>
                    </a:lnTo>
                    <a:cubicBezTo>
                      <a:pt x="4274820" y="0"/>
                      <a:pt x="4340352" y="65532"/>
                      <a:pt x="4340352" y="146304"/>
                    </a:cubicBezTo>
                    <a:lnTo>
                      <a:pt x="4340352" y="1365504"/>
                    </a:lnTo>
                    <a:cubicBezTo>
                      <a:pt x="4340352" y="1446276"/>
                      <a:pt x="4274820" y="1511808"/>
                      <a:pt x="4194048" y="1511808"/>
                    </a:cubicBezTo>
                    <a:lnTo>
                      <a:pt x="146304" y="1511808"/>
                    </a:lnTo>
                    <a:cubicBezTo>
                      <a:pt x="65532" y="1511808"/>
                      <a:pt x="0" y="1446276"/>
                      <a:pt x="0" y="1365504"/>
                    </a:cubicBezTo>
                    <a:close/>
                  </a:path>
                </a:pathLst>
              </a:custGeom>
              <a:solidFill>
                <a:srgbClr val="AD1457">
                  <a:alpha val="48627"/>
                </a:srgbClr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4876800" y="0"/>
              <a:ext cx="4340352" cy="1511808"/>
              <a:chOff x="0" y="0"/>
              <a:chExt cx="4340352" cy="151180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340352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4340352">
                    <a:moveTo>
                      <a:pt x="0" y="0"/>
                    </a:moveTo>
                    <a:lnTo>
                      <a:pt x="4340352" y="0"/>
                    </a:lnTo>
                    <a:lnTo>
                      <a:pt x="4340352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940" r="0" b="-594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340352" cy="15499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 understand the attitude of the people who attendend the camp 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558528" y="0"/>
              <a:ext cx="4340352" cy="1511808"/>
              <a:chOff x="0" y="0"/>
              <a:chExt cx="4340352" cy="151180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340352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4340352">
                    <a:moveTo>
                      <a:pt x="0" y="146304"/>
                    </a:moveTo>
                    <a:cubicBezTo>
                      <a:pt x="0" y="65532"/>
                      <a:pt x="65532" y="0"/>
                      <a:pt x="146304" y="0"/>
                    </a:cubicBezTo>
                    <a:lnTo>
                      <a:pt x="4194048" y="0"/>
                    </a:lnTo>
                    <a:cubicBezTo>
                      <a:pt x="4274820" y="0"/>
                      <a:pt x="4340352" y="65532"/>
                      <a:pt x="4340352" y="146304"/>
                    </a:cubicBezTo>
                    <a:lnTo>
                      <a:pt x="4340352" y="1365504"/>
                    </a:lnTo>
                    <a:cubicBezTo>
                      <a:pt x="4340352" y="1446276"/>
                      <a:pt x="4274820" y="1511808"/>
                      <a:pt x="4194048" y="1511808"/>
                    </a:cubicBezTo>
                    <a:lnTo>
                      <a:pt x="146304" y="1511808"/>
                    </a:lnTo>
                    <a:cubicBezTo>
                      <a:pt x="65532" y="1511808"/>
                      <a:pt x="0" y="1446276"/>
                      <a:pt x="0" y="1365504"/>
                    </a:cubicBezTo>
                    <a:close/>
                  </a:path>
                </a:pathLst>
              </a:custGeom>
              <a:solidFill>
                <a:srgbClr val="AD1457">
                  <a:alpha val="48627"/>
                </a:srgbClr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9558528" y="0"/>
              <a:ext cx="4340352" cy="1511808"/>
              <a:chOff x="0" y="0"/>
              <a:chExt cx="4340352" cy="151180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340352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4340352">
                    <a:moveTo>
                      <a:pt x="0" y="0"/>
                    </a:moveTo>
                    <a:lnTo>
                      <a:pt x="4340352" y="0"/>
                    </a:lnTo>
                    <a:lnTo>
                      <a:pt x="4340352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5940" r="0" b="-5940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4340352" cy="15499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 Study the effect of counselling 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7498080" y="6761988"/>
            <a:ext cx="2377440" cy="640080"/>
            <a:chOff x="0" y="0"/>
            <a:chExt cx="316992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3169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8BBD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498080" y="9326880"/>
            <a:ext cx="10424160" cy="640080"/>
            <a:chOff x="0" y="0"/>
            <a:chExt cx="1389888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898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38988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 SANGEETHA L |  MBA – Social Impact 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37360"/>
            <a:chOff x="0" y="0"/>
            <a:chExt cx="24384000" cy="23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46304"/>
            <a:ext cx="17190720" cy="1426464"/>
            <a:chOff x="0" y="0"/>
            <a:chExt cx="22920960" cy="1901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819" r="0" b="-18481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920960" cy="198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Methodology &amp; Data Collection Tools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920240"/>
            <a:ext cx="17190720" cy="822960"/>
            <a:chOff x="0" y="0"/>
            <a:chExt cx="229209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209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020" r="0" b="-3570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9209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46E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Qualitative </a:t>
              </a:r>
              <a:r>
                <a:rPr lang="en-US" sz="2400" i="true">
                  <a:solidFill>
                    <a:srgbClr val="546E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method were used to capture real-life experiences and measure social impact across participants.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7200" y="2926080"/>
            <a:ext cx="5669280" cy="6766560"/>
            <a:chOff x="0" y="0"/>
            <a:chExt cx="7559040" cy="9022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5904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2926080"/>
            <a:ext cx="5669280" cy="1371600"/>
            <a:chOff x="0" y="0"/>
            <a:chExt cx="75590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5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3054096"/>
            <a:ext cx="822960" cy="822960"/>
            <a:chOff x="0" y="0"/>
            <a:chExt cx="1097280" cy="10972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91056" y="3017520"/>
            <a:ext cx="4352544" cy="1280160"/>
            <a:chOff x="0" y="0"/>
            <a:chExt cx="5803392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033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803392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Observation Method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0080" y="4480560"/>
            <a:ext cx="5303520" cy="5029200"/>
            <a:chOff x="0" y="0"/>
            <a:chExt cx="7071360" cy="6705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6705600"/>
            </a:xfrm>
            <a:custGeom>
              <a:avLst/>
              <a:gdLst/>
              <a:ahLst/>
              <a:cxnLst/>
              <a:rect r="r" b="b" t="t" l="l"/>
              <a:pathLst>
                <a:path h="6705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705600"/>
                  </a:lnTo>
                  <a:lnTo>
                    <a:pt x="0" y="67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667" t="0" r="-7166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071360" cy="675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Participant behaviour during camp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Emotional reactions before &amp; after screening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Counselling session interactions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Family involvement &amp; behavioural changes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0800" y="2926080"/>
            <a:ext cx="5669280" cy="6766560"/>
            <a:chOff x="0" y="0"/>
            <a:chExt cx="7559040" cy="9022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5904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00800" y="2926080"/>
            <a:ext cx="5669280" cy="1371600"/>
            <a:chOff x="0" y="0"/>
            <a:chExt cx="755904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0" y="3054096"/>
            <a:ext cx="822960" cy="822960"/>
            <a:chOff x="0" y="0"/>
            <a:chExt cx="1097280" cy="109728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34656" y="3017520"/>
            <a:ext cx="4352544" cy="1280160"/>
            <a:chOff x="0" y="0"/>
            <a:chExt cx="5803392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033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803392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Interview Method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83680" y="4480560"/>
            <a:ext cx="5303520" cy="5029200"/>
            <a:chOff x="0" y="0"/>
            <a:chExt cx="7071360" cy="6705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71360" cy="6705600"/>
            </a:xfrm>
            <a:custGeom>
              <a:avLst/>
              <a:gdLst/>
              <a:ahLst/>
              <a:cxnLst/>
              <a:rect r="r" b="b" t="t" l="l"/>
              <a:pathLst>
                <a:path h="6705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705600"/>
                  </a:lnTo>
                  <a:lnTo>
                    <a:pt x="0" y="67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667" t="0" r="-7166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071360" cy="675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Semi-structured interviews with: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Mrs. Meenakshi Sundaram, Doctors,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Counsellors, Nurses &amp; Family members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Topics: Fear, Stigma, Finance, Awareness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0" y="2926080"/>
            <a:ext cx="5669280" cy="6766560"/>
            <a:chOff x="0" y="0"/>
            <a:chExt cx="7559040" cy="9022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5904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4400" y="2926080"/>
            <a:ext cx="5669280" cy="1371600"/>
            <a:chOff x="0" y="0"/>
            <a:chExt cx="755904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5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27280" y="3054096"/>
            <a:ext cx="822960" cy="822960"/>
            <a:chOff x="0" y="0"/>
            <a:chExt cx="1097280" cy="109728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78256" y="3017520"/>
            <a:ext cx="4352544" cy="1280160"/>
            <a:chOff x="0" y="0"/>
            <a:chExt cx="5803392" cy="1706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033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803392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Case Study Method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527280" y="4480560"/>
            <a:ext cx="5303520" cy="5029200"/>
            <a:chOff x="0" y="0"/>
            <a:chExt cx="7071360" cy="6705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71360" cy="6705600"/>
            </a:xfrm>
            <a:custGeom>
              <a:avLst/>
              <a:gdLst/>
              <a:ahLst/>
              <a:cxnLst/>
              <a:rect r="r" b="b" t="t" l="l"/>
              <a:pathLst>
                <a:path h="6705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705600"/>
                  </a:lnTo>
                  <a:lnTo>
                    <a:pt x="0" y="670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667" t="0" r="-7166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071360" cy="675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Detailed study of participant's journey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Emotional, social &amp; psychological analysis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&amp; medical experience mapping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C1C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 of counselling and awareness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852160" cy="10287000"/>
            <a:chOff x="0" y="0"/>
            <a:chExt cx="780288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640080"/>
            <a:ext cx="2743200" cy="2743200"/>
            <a:chOff x="0" y="0"/>
            <a:chExt cx="3657600" cy="36576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880" y="3657600"/>
            <a:ext cx="5486400" cy="914400"/>
            <a:chOff x="0" y="0"/>
            <a:chExt cx="73152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315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 spc="5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STUDY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" y="4572000"/>
            <a:ext cx="5486400" cy="2377440"/>
            <a:chOff x="0" y="0"/>
            <a:chExt cx="7315200" cy="3169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8" t="0" r="-559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7315200" cy="3246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Mrs.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XXXXXXXXX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5760" y="7223760"/>
            <a:ext cx="5120640" cy="585216"/>
            <a:chOff x="0" y="0"/>
            <a:chExt cx="682752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705600" y="0"/>
                  </a:lnTo>
                  <a:cubicBezTo>
                    <a:pt x="6772910" y="0"/>
                    <a:pt x="6827520" y="54610"/>
                    <a:pt x="6827520" y="121920"/>
                  </a:cubicBezTo>
                  <a:lnTo>
                    <a:pt x="6827520" y="658368"/>
                  </a:lnTo>
                  <a:cubicBezTo>
                    <a:pt x="6827520" y="725678"/>
                    <a:pt x="6772910" y="780288"/>
                    <a:pt x="6705600" y="780288"/>
                  </a:cubicBezTo>
                  <a:lnTo>
                    <a:pt x="121920" y="780288"/>
                  </a:lnTo>
                  <a:cubicBezTo>
                    <a:pt x="54610" y="780288"/>
                    <a:pt x="0" y="725678"/>
                    <a:pt x="0" y="658368"/>
                  </a:cubicBezTo>
                  <a:close/>
                </a:path>
              </a:pathLst>
            </a:custGeom>
            <a:solidFill>
              <a:srgbClr val="AD1457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5760" y="7223760"/>
            <a:ext cx="5120640" cy="585216"/>
            <a:chOff x="0" y="0"/>
            <a:chExt cx="682752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Age: 43 | Homemaker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5760" y="7918704"/>
            <a:ext cx="5120640" cy="585216"/>
            <a:chOff x="0" y="0"/>
            <a:chExt cx="682752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705600" y="0"/>
                  </a:lnTo>
                  <a:cubicBezTo>
                    <a:pt x="6772910" y="0"/>
                    <a:pt x="6827520" y="54610"/>
                    <a:pt x="6827520" y="121920"/>
                  </a:cubicBezTo>
                  <a:lnTo>
                    <a:pt x="6827520" y="658368"/>
                  </a:lnTo>
                  <a:cubicBezTo>
                    <a:pt x="6827520" y="725678"/>
                    <a:pt x="6772910" y="780288"/>
                    <a:pt x="6705600" y="780288"/>
                  </a:cubicBezTo>
                  <a:lnTo>
                    <a:pt x="121920" y="780288"/>
                  </a:lnTo>
                  <a:cubicBezTo>
                    <a:pt x="54610" y="780288"/>
                    <a:pt x="0" y="725678"/>
                    <a:pt x="0" y="658368"/>
                  </a:cubicBezTo>
                  <a:close/>
                </a:path>
              </a:pathLst>
            </a:custGeom>
            <a:solidFill>
              <a:srgbClr val="AD1457">
                <a:alpha val="48627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65760" y="7918704"/>
            <a:ext cx="5120640" cy="585216"/>
            <a:chOff x="0" y="0"/>
            <a:chExt cx="682752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Villapuram, Madurai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65760" y="8613648"/>
            <a:ext cx="5120640" cy="585216"/>
            <a:chOff x="0" y="0"/>
            <a:chExt cx="682752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705600" y="0"/>
                  </a:lnTo>
                  <a:cubicBezTo>
                    <a:pt x="6772910" y="0"/>
                    <a:pt x="6827520" y="54610"/>
                    <a:pt x="6827520" y="121920"/>
                  </a:cubicBezTo>
                  <a:lnTo>
                    <a:pt x="6827520" y="658368"/>
                  </a:lnTo>
                  <a:cubicBezTo>
                    <a:pt x="6827520" y="725678"/>
                    <a:pt x="6772910" y="780288"/>
                    <a:pt x="6705600" y="780288"/>
                  </a:cubicBezTo>
                  <a:lnTo>
                    <a:pt x="121920" y="780288"/>
                  </a:lnTo>
                  <a:cubicBezTo>
                    <a:pt x="54610" y="780288"/>
                    <a:pt x="0" y="725678"/>
                    <a:pt x="0" y="658368"/>
                  </a:cubicBezTo>
                  <a:close/>
                </a:path>
              </a:pathLst>
            </a:custGeom>
            <a:solidFill>
              <a:srgbClr val="AD1457">
                <a:alpha val="4862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65760" y="8613648"/>
            <a:ext cx="5120640" cy="585216"/>
            <a:chOff x="0" y="0"/>
            <a:chExt cx="682752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Economically Vulnerable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5760" y="9308592"/>
            <a:ext cx="5120640" cy="585216"/>
            <a:chOff x="0" y="0"/>
            <a:chExt cx="682752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705600" y="0"/>
                  </a:lnTo>
                  <a:cubicBezTo>
                    <a:pt x="6772910" y="0"/>
                    <a:pt x="6827520" y="54610"/>
                    <a:pt x="6827520" y="121920"/>
                  </a:cubicBezTo>
                  <a:lnTo>
                    <a:pt x="6827520" y="658368"/>
                  </a:lnTo>
                  <a:cubicBezTo>
                    <a:pt x="6827520" y="725678"/>
                    <a:pt x="6772910" y="780288"/>
                    <a:pt x="6705600" y="780288"/>
                  </a:cubicBezTo>
                  <a:lnTo>
                    <a:pt x="121920" y="780288"/>
                  </a:lnTo>
                  <a:cubicBezTo>
                    <a:pt x="54610" y="780288"/>
                    <a:pt x="0" y="725678"/>
                    <a:pt x="0" y="658368"/>
                  </a:cubicBezTo>
                  <a:close/>
                </a:path>
              </a:pathLst>
            </a:custGeom>
            <a:solidFill>
              <a:srgbClr val="AD1457">
                <a:alpha val="4862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65760" y="9308592"/>
            <a:ext cx="5120640" cy="585216"/>
            <a:chOff x="0" y="0"/>
            <a:chExt cx="682752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Prior Breast Exam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17920" y="274320"/>
            <a:ext cx="5669280" cy="4572000"/>
            <a:chOff x="0" y="0"/>
            <a:chExt cx="7559040" cy="609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217920" y="274320"/>
            <a:ext cx="5669280" cy="1005840"/>
            <a:chOff x="0" y="0"/>
            <a:chExt cx="755904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D145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437376" y="329184"/>
            <a:ext cx="5230368" cy="914400"/>
            <a:chOff x="0" y="0"/>
            <a:chExt cx="6973824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73824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454" r="0" b="-6145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97382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😟 Before the Camp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528816" y="1461135"/>
            <a:ext cx="5047488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C1C2E"/>
                </a:solidFill>
                <a:latin typeface="Calibri (MS)"/>
                <a:ea typeface="Calibri (MS)"/>
                <a:cs typeface="Calibri (MS)"/>
                <a:sym typeface="Calibri (MS)"/>
              </a:rPr>
              <a:t>Fear of cancer diagnosis · Anxiety &amp; social stigma · Hesitation due to past cancer deaths in community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252960" y="274320"/>
            <a:ext cx="5669280" cy="4572000"/>
            <a:chOff x="0" y="0"/>
            <a:chExt cx="7559040" cy="6096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52960" y="274320"/>
            <a:ext cx="5669280" cy="1005840"/>
            <a:chOff x="0" y="0"/>
            <a:chExt cx="755904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72416" y="329184"/>
            <a:ext cx="5230368" cy="914400"/>
            <a:chOff x="0" y="0"/>
            <a:chExt cx="6973824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73824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454" r="0" b="-614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97382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🏥 Medical Interaction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2563856" y="1461135"/>
            <a:ext cx="5047488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C1C2E"/>
                </a:solidFill>
                <a:latin typeface="Calibri (MS)"/>
                <a:ea typeface="Calibri (MS)"/>
                <a:cs typeface="Calibri (MS)"/>
                <a:sym typeface="Calibri (MS)"/>
              </a:rPr>
              <a:t>Female counsellor provided comfort · Tamil-language communication · Emotional reassurance &amp; trust-building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217920" y="5120640"/>
            <a:ext cx="5669280" cy="4572000"/>
            <a:chOff x="0" y="0"/>
            <a:chExt cx="7559040" cy="6096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5904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217920" y="5120640"/>
            <a:ext cx="5669280" cy="1005840"/>
            <a:chOff x="0" y="0"/>
            <a:chExt cx="75590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37376" y="5175504"/>
            <a:ext cx="5230368" cy="914400"/>
            <a:chOff x="0" y="0"/>
            <a:chExt cx="6973824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73824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454" r="0" b="-614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97382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🔬 Medical Findings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528816" y="6307455"/>
            <a:ext cx="5047488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C1C2E"/>
                </a:solidFill>
                <a:latin typeface="Calibri (MS)"/>
                <a:ea typeface="Calibri (MS)"/>
                <a:cs typeface="Calibri (MS)"/>
                <a:sym typeface="Calibri (MS)"/>
              </a:rPr>
              <a:t>Small lump identified in clinical exam · Ultrasound: Benign fibroadenoma (BI-RADS Category 3) · Regular follow-up advised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252960" y="5120640"/>
            <a:ext cx="5669280" cy="4572000"/>
            <a:chOff x="0" y="0"/>
            <a:chExt cx="7559040" cy="6096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5904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252960" y="5120640"/>
            <a:ext cx="5669280" cy="1005840"/>
            <a:chOff x="0" y="0"/>
            <a:chExt cx="755904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472416" y="5175504"/>
            <a:ext cx="5230368" cy="914400"/>
            <a:chOff x="0" y="0"/>
            <a:chExt cx="6973824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73824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454" r="0" b="-6145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97382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🌟 Psychological Transformation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563856" y="6307455"/>
            <a:ext cx="5047488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C1C2E"/>
                </a:solidFill>
                <a:latin typeface="Calibri (MS)"/>
                <a:ea typeface="Calibri (MS)"/>
                <a:cs typeface="Calibri (MS)"/>
                <a:sym typeface="Calibri (MS)"/>
              </a:rPr>
              <a:t>Myths removed through counselling · Improved confidence · Began self-breast exams · Motivated neighbours to attend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20240"/>
            <a:chOff x="0" y="0"/>
            <a:chExt cx="24384000" cy="2560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182880"/>
            <a:ext cx="17190720" cy="1554480"/>
            <a:chOff x="0" y="0"/>
            <a:chExt cx="22920960" cy="2072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Outcome &amp; Social Impact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" y="2194560"/>
            <a:ext cx="8412480" cy="3566160"/>
            <a:chOff x="0" y="0"/>
            <a:chExt cx="11216640" cy="4754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2194560"/>
            <a:ext cx="1005840" cy="3566160"/>
            <a:chOff x="0" y="0"/>
            <a:chExt cx="1341120" cy="475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3504" y="3474720"/>
            <a:ext cx="731520" cy="731520"/>
            <a:chOff x="0" y="0"/>
            <a:chExt cx="975360" cy="97536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2286000"/>
            <a:ext cx="7040880" cy="822960"/>
            <a:chOff x="0" y="0"/>
            <a:chExt cx="938784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3878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1C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Outcome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" y="3145536"/>
            <a:ext cx="7040880" cy="2468880"/>
            <a:chOff x="0" y="0"/>
            <a:chExt cx="9387840" cy="3291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87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8" r="0" b="-55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3878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Benign fibroadenoma – benign diagnosis confirmed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detection prevented complications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 monitoring plan established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81744" y="2194560"/>
            <a:ext cx="8412480" cy="3566160"/>
            <a:chOff x="0" y="0"/>
            <a:chExt cx="11216640" cy="4754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81744" y="2194560"/>
            <a:ext cx="1005840" cy="3566160"/>
            <a:chOff x="0" y="0"/>
            <a:chExt cx="1341120" cy="4754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28048" y="3474720"/>
            <a:ext cx="731520" cy="731520"/>
            <a:chOff x="0" y="0"/>
            <a:chExt cx="975360" cy="97536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570464" y="2286000"/>
            <a:ext cx="7040880" cy="822960"/>
            <a:chOff x="0" y="0"/>
            <a:chExt cx="938784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3878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1C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Psychological Impact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570464" y="3145536"/>
            <a:ext cx="7040880" cy="2468880"/>
            <a:chOff x="0" y="0"/>
            <a:chExt cx="9387840" cy="3291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87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8" r="0" b="-55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878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Reduced fear and emotional stress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Increased confidence &amp; healthcare awareness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Overcame stigma &amp; myths around cancer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7200" y="6035040"/>
            <a:ext cx="8412480" cy="3566160"/>
            <a:chOff x="0" y="0"/>
            <a:chExt cx="11216640" cy="4754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57200" y="6035040"/>
            <a:ext cx="1005840" cy="3566160"/>
            <a:chOff x="0" y="0"/>
            <a:chExt cx="1341120" cy="4754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1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03504" y="7315200"/>
            <a:ext cx="731520" cy="731520"/>
            <a:chOff x="0" y="0"/>
            <a:chExt cx="975360" cy="97536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45920" y="6126480"/>
            <a:ext cx="7040880" cy="822960"/>
            <a:chOff x="0" y="0"/>
            <a:chExt cx="93878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3878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1C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Impact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45920" y="6986016"/>
            <a:ext cx="7040880" cy="2468880"/>
            <a:chOff x="0" y="0"/>
            <a:chExt cx="9387840" cy="3291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87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8" r="0" b="-556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3878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Family became supportive post-camp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 awareness significantly improved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Preventive healthcare behaviour encouraged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81744" y="6035040"/>
            <a:ext cx="8412480" cy="3566160"/>
            <a:chOff x="0" y="0"/>
            <a:chExt cx="11216640" cy="4754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81744" y="6035040"/>
            <a:ext cx="1005840" cy="3566160"/>
            <a:chOff x="0" y="0"/>
            <a:chExt cx="1341120" cy="4754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1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AD145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28048" y="7315200"/>
            <a:ext cx="731520" cy="731520"/>
            <a:chOff x="0" y="0"/>
            <a:chExt cx="975360" cy="97536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570464" y="6126480"/>
            <a:ext cx="7040880" cy="822960"/>
            <a:chOff x="0" y="0"/>
            <a:chExt cx="938784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3878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1C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Impact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570464" y="6986016"/>
            <a:ext cx="7040880" cy="2468880"/>
            <a:chOff x="0" y="0"/>
            <a:chExt cx="9387840" cy="3291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87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8" r="0" b="-556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3878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 diagnosis provided at the camp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Hospital support for govt. health schemes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Reduced financial burden on family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0" y="9509760"/>
            <a:ext cx="18288000" cy="777240"/>
            <a:chOff x="0" y="0"/>
            <a:chExt cx="24384000" cy="10363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36320"/>
                  </a:lnTo>
                  <a:lnTo>
                    <a:pt x="0" y="1036320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5760" y="9546336"/>
            <a:ext cx="17556480" cy="694944"/>
            <a:chOff x="0" y="0"/>
            <a:chExt cx="2340864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408639" cy="926592"/>
            </a:xfrm>
            <a:custGeom>
              <a:avLst/>
              <a:gdLst/>
              <a:ahLst/>
              <a:cxnLst/>
              <a:rect r="r" b="b" t="t" l="l"/>
              <a:pathLst>
                <a:path h="92659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253" r="0" b="-44225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3408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Overall: Improved healthcare accessibility · Women empowerment through awareness · Importance of community outreach programs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32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3837" y="333669"/>
            <a:ext cx="592014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  <a:spcBef>
                <a:spcPct val="0"/>
              </a:spcBef>
            </a:pPr>
            <a:r>
              <a:rPr lang="en-US" b="true" sz="470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Richard Roundtree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311222"/>
            <a:ext cx="6822510" cy="4365595"/>
          </a:xfrm>
          <a:custGeom>
            <a:avLst/>
            <a:gdLst/>
            <a:ahLst/>
            <a:cxnLst/>
            <a:rect r="r" b="b" t="t" l="l"/>
            <a:pathLst>
              <a:path h="4365595" w="6822510">
                <a:moveTo>
                  <a:pt x="0" y="0"/>
                </a:moveTo>
                <a:lnTo>
                  <a:pt x="6822510" y="0"/>
                </a:lnTo>
                <a:lnTo>
                  <a:pt x="6822510" y="4365595"/>
                </a:lnTo>
                <a:lnTo>
                  <a:pt x="0" y="4365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" r="0" b="-18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38882" y="652505"/>
            <a:ext cx="9712058" cy="514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960" indent="-282480" lvl="1">
              <a:lnSpc>
                <a:spcPts val="3140"/>
              </a:lnSpc>
              <a:buAutoNum type="arabicPeriod" startAt="1"/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Diagnosis</a:t>
            </a:r>
          </a:p>
          <a:p>
            <a:pPr algn="l">
              <a:lnSpc>
                <a:spcPts val="3140"/>
              </a:lnSpc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In 1993, Richard Roundtree found a lump in his chest and was diagnosed with male breast cancer.</a:t>
            </a:r>
          </a:p>
          <a:p>
            <a:pPr algn="l" marL="564960" indent="-282480" lvl="1">
              <a:lnSpc>
                <a:spcPts val="3140"/>
              </a:lnSpc>
              <a:buAutoNum type="arabicPeriod" startAt="1"/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reatment &amp; Recovery</a:t>
            </a:r>
          </a:p>
          <a:p>
            <a:pPr algn="l">
              <a:lnSpc>
                <a:spcPts val="3140"/>
              </a:lnSpc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He underwent surgery and chemotherapy and recovered successfully.</a:t>
            </a:r>
          </a:p>
          <a:p>
            <a:pPr algn="l" marL="564960" indent="-282480" lvl="1">
              <a:lnSpc>
                <a:spcPts val="3140"/>
              </a:lnSpc>
              <a:buAutoNum type="arabicPeriod" startAt="1"/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wareness</a:t>
            </a:r>
          </a:p>
          <a:p>
            <a:pPr algn="l">
              <a:lnSpc>
                <a:spcPts val="3140"/>
              </a:lnSpc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He shared his story to spread awareness that men can also get breast cancer.</a:t>
            </a:r>
          </a:p>
          <a:p>
            <a:pPr algn="l" marL="564960" indent="-282480" lvl="1">
              <a:lnSpc>
                <a:spcPts val="3140"/>
              </a:lnSpc>
              <a:buAutoNum type="arabicPeriod" startAt="1"/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ocial Impact</a:t>
            </a:r>
          </a:p>
          <a:p>
            <a:pPr algn="l">
              <a:lnSpc>
                <a:spcPts val="3140"/>
              </a:lnSpc>
            </a:pPr>
            <a:r>
              <a:rPr lang="en-US" sz="2616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His story encouraged early diagnosis and reduced stigma about male breast cancer.</a:t>
            </a:r>
          </a:p>
          <a:p>
            <a:pPr algn="l">
              <a:lnSpc>
                <a:spcPts val="314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5924467"/>
            <a:ext cx="4769957" cy="3730681"/>
          </a:xfrm>
          <a:custGeom>
            <a:avLst/>
            <a:gdLst/>
            <a:ahLst/>
            <a:cxnLst/>
            <a:rect r="r" b="b" t="t" l="l"/>
            <a:pathLst>
              <a:path h="3730681" w="4769957">
                <a:moveTo>
                  <a:pt x="0" y="0"/>
                </a:moveTo>
                <a:lnTo>
                  <a:pt x="4769957" y="0"/>
                </a:lnTo>
                <a:lnTo>
                  <a:pt x="4769957" y="3730681"/>
                </a:lnTo>
                <a:lnTo>
                  <a:pt x="0" y="3730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0" r="0" b="-6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55454" y="5924467"/>
            <a:ext cx="3730681" cy="3730681"/>
          </a:xfrm>
          <a:custGeom>
            <a:avLst/>
            <a:gdLst/>
            <a:ahLst/>
            <a:cxnLst/>
            <a:rect r="r" b="b" t="t" l="l"/>
            <a:pathLst>
              <a:path h="3730681" w="3730681">
                <a:moveTo>
                  <a:pt x="0" y="0"/>
                </a:moveTo>
                <a:lnTo>
                  <a:pt x="3730681" y="0"/>
                </a:lnTo>
                <a:lnTo>
                  <a:pt x="3730681" y="3730681"/>
                </a:lnTo>
                <a:lnTo>
                  <a:pt x="0" y="3730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0" y="548640"/>
            <a:ext cx="5852160" cy="5852160"/>
            <a:chOff x="0" y="0"/>
            <a:chExt cx="7802880" cy="780288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8028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802880"/>
                  </a:lnTo>
                  <a:lnTo>
                    <a:pt x="0" y="7802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7200"/>
            <a:ext cx="10972800" cy="1645920"/>
            <a:chOff x="0" y="0"/>
            <a:chExt cx="146304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4630400" cy="2356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2103120"/>
            <a:ext cx="3291840" cy="109728"/>
            <a:chOff x="0" y="0"/>
            <a:chExt cx="4389120" cy="1463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9120" cy="146304"/>
            </a:xfrm>
            <a:custGeom>
              <a:avLst/>
              <a:gdLst/>
              <a:ahLst/>
              <a:cxnLst/>
              <a:rect r="r" b="b" t="t" l="l"/>
              <a:pathLst>
                <a:path h="14630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2468880"/>
            <a:ext cx="694944" cy="694944"/>
            <a:chOff x="0" y="0"/>
            <a:chExt cx="926592" cy="92659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2377440"/>
            <a:ext cx="12435840" cy="914400"/>
            <a:chOff x="0" y="0"/>
            <a:chExt cx="1658112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58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5811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CEF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Breast cancer awareness camps play a vital role in early detection and prevention of the disease.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1520" y="3657600"/>
            <a:ext cx="694944" cy="694944"/>
            <a:chOff x="0" y="0"/>
            <a:chExt cx="926592" cy="92659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5920" y="3566160"/>
            <a:ext cx="12435840" cy="914400"/>
            <a:chOff x="0" y="0"/>
            <a:chExt cx="165811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8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65811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CEF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Counselling and emotional support are equally important as medical treatment for cancer patients.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4846320"/>
            <a:ext cx="694944" cy="694944"/>
            <a:chOff x="0" y="0"/>
            <a:chExt cx="926592" cy="92659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4754880"/>
            <a:ext cx="12435840" cy="914400"/>
            <a:chOff x="0" y="0"/>
            <a:chExt cx="165811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58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5811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CEF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Aristo Speciality Hospital successfully created social impact through community healthcare outreach.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6035040"/>
            <a:ext cx="694944" cy="694944"/>
            <a:chOff x="0" y="0"/>
            <a:chExt cx="926592" cy="92659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5920" y="5943600"/>
            <a:ext cx="12435840" cy="914400"/>
            <a:chOff x="0" y="0"/>
            <a:chExt cx="1658112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58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65811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CEF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project highlights the importance of awareness, accessibility, and community healthcare services.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31520" y="7223760"/>
            <a:ext cx="694944" cy="694944"/>
            <a:chOff x="0" y="0"/>
            <a:chExt cx="926592" cy="92659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5920" y="7132320"/>
            <a:ext cx="12435840" cy="914400"/>
            <a:chOff x="0" y="0"/>
            <a:chExt cx="1658112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58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65811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CEF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Community-based healthcare programs can transform lives and significantly improve women's health outcomes.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1520" y="8412480"/>
            <a:ext cx="16824960" cy="1499616"/>
            <a:chOff x="0" y="0"/>
            <a:chExt cx="22433280" cy="19994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4332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C2185B">
                <a:alpha val="63922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8412480"/>
            <a:ext cx="146304" cy="1499616"/>
            <a:chOff x="0" y="0"/>
            <a:chExt cx="195072" cy="1999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C2185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8449056"/>
            <a:ext cx="16093440" cy="1426464"/>
            <a:chOff x="0" y="0"/>
            <a:chExt cx="21457920" cy="19019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79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831" r="0" b="-16983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457920" cy="1921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 i="true">
                  <a:solidFill>
                    <a:srgbClr val="FFFFFF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"Early detection saves lives, but awareness gives women the courage to seek help."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8640" y="9784080"/>
            <a:ext cx="17190720" cy="457200"/>
            <a:chOff x="0" y="0"/>
            <a:chExt cx="22920960" cy="609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920961" cy="609600"/>
            </a:xfrm>
            <a:custGeom>
              <a:avLst/>
              <a:gdLst/>
              <a:ahLst/>
              <a:cxnLst/>
              <a:rect r="r" b="b" t="t" l="l"/>
              <a:pathLst>
                <a:path h="6096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2637" r="0" b="-6826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920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 [Your Name]  |  Social Impact Project – MBA  |  Aristo Speciality Hospital, Madurai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DAHJ7QixCbY</dc:identifier>
  <dcterms:modified xsi:type="dcterms:W3CDTF">2011-08-01T06:04:30Z</dcterms:modified>
  <cp:revision>1</cp:revision>
  <dc:title>breast_cancer_awareness_SIP.pptx</dc:title>
</cp:coreProperties>
</file>